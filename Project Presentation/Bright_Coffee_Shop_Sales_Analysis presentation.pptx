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-3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
Chocolate</c:v>
                </c:pt>
                <c:pt idx="4">
                  <c:v>Coffee
Beans</c:v>
                </c:pt>
                <c:pt idx="5">
                  <c:v>Branded</c:v>
                </c:pt>
                <c:pt idx="6">
                  <c:v>Loose
Tea</c:v>
                </c:pt>
                <c:pt idx="7">
                  <c:v>Flavours</c:v>
                </c:pt>
                <c:pt idx="8">
                  <c:v>Packaged
Chocolate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13607</c:v>
                </c:pt>
                <c:pt idx="6">
                  <c:v>11213.6</c:v>
                </c:pt>
                <c:pt idx="7">
                  <c:v>8408.7999999999993</c:v>
                </c:pt>
                <c:pt idx="8">
                  <c:v>4407.6400000000003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70719488"/>
        <c:axId val="135397376"/>
      </c:barChart>
      <c:catAx>
        <c:axId val="170719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35397376"/>
        <c:crosses val="autoZero"/>
        <c:auto val="1"/>
        <c:lblAlgn val="ctr"/>
        <c:lblOffset val="100"/>
        <c:noMultiLvlLbl val="1"/>
      </c:catAx>
      <c:valAx>
        <c:axId val="1353973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70719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Barista Espresso</c:v>
                </c:pt>
                <c:pt idx="1">
                  <c:v>Brewed Chai Tea</c:v>
                </c:pt>
                <c:pt idx="2">
                  <c:v>Hot Chocolate</c:v>
                </c:pt>
                <c:pt idx="3">
                  <c:v>Gourmet Brewed Coffee</c:v>
                </c:pt>
                <c:pt idx="4">
                  <c:v>Brewed Black Tea</c:v>
                </c:pt>
                <c:pt idx="5">
                  <c:v>Brewed Herbal Tea</c:v>
                </c:pt>
                <c:pt idx="6">
                  <c:v>Premium Brewed Coffee</c:v>
                </c:pt>
                <c:pt idx="7">
                  <c:v>Organic Brewed Coffee</c:v>
                </c:pt>
                <c:pt idx="8">
                  <c:v>Scone</c:v>
                </c:pt>
                <c:pt idx="9">
                  <c:v>Drip Coffee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91406.2</c:v>
                </c:pt>
                <c:pt idx="1">
                  <c:v>77081.95</c:v>
                </c:pt>
                <c:pt idx="2">
                  <c:v>72416</c:v>
                </c:pt>
                <c:pt idx="3">
                  <c:v>70034.600000000006</c:v>
                </c:pt>
                <c:pt idx="4">
                  <c:v>47932</c:v>
                </c:pt>
                <c:pt idx="5">
                  <c:v>47539.5</c:v>
                </c:pt>
                <c:pt idx="6">
                  <c:v>38781.15</c:v>
                </c:pt>
                <c:pt idx="7">
                  <c:v>37746.5</c:v>
                </c:pt>
                <c:pt idx="8">
                  <c:v>36866.120000000003</c:v>
                </c:pt>
                <c:pt idx="9">
                  <c:v>31984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38106368"/>
        <c:axId val="138107904"/>
      </c:barChart>
      <c:catAx>
        <c:axId val="138106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95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38107904"/>
        <c:crosses val="autoZero"/>
        <c:auto val="1"/>
        <c:lblAlgn val="ctr"/>
        <c:lblOffset val="100"/>
        <c:noMultiLvlLbl val="1"/>
      </c:catAx>
      <c:valAx>
        <c:axId val="13810790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3810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95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Espresso Beans</c:v>
                </c:pt>
                <c:pt idx="1">
                  <c:v>Chai Tea</c:v>
                </c:pt>
                <c:pt idx="2">
                  <c:v>House Blend Beans</c:v>
                </c:pt>
                <c:pt idx="3">
                  <c:v>Herbal Tea</c:v>
                </c:pt>
                <c:pt idx="4">
                  <c:v>Drinking Chocolate</c:v>
                </c:pt>
                <c:pt idx="5">
                  <c:v>Black Tea</c:v>
                </c:pt>
                <c:pt idx="6">
                  <c:v>Sugar Free Syrup</c:v>
                </c:pt>
                <c:pt idx="7">
                  <c:v>Organic Chocolate</c:v>
                </c:pt>
                <c:pt idx="8">
                  <c:v>Green Tea</c:v>
                </c:pt>
                <c:pt idx="9">
                  <c:v>Green Beans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5560.25</c:v>
                </c:pt>
                <c:pt idx="1">
                  <c:v>4301.25</c:v>
                </c:pt>
                <c:pt idx="2">
                  <c:v>3294</c:v>
                </c:pt>
                <c:pt idx="3">
                  <c:v>2729.75</c:v>
                </c:pt>
                <c:pt idx="4">
                  <c:v>2728.04</c:v>
                </c:pt>
                <c:pt idx="5">
                  <c:v>2711.85</c:v>
                </c:pt>
                <c:pt idx="6">
                  <c:v>2324</c:v>
                </c:pt>
                <c:pt idx="7">
                  <c:v>1679.6</c:v>
                </c:pt>
                <c:pt idx="8">
                  <c:v>1470.75</c:v>
                </c:pt>
                <c:pt idx="9">
                  <c:v>1340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38139904"/>
        <c:axId val="140156928"/>
      </c:barChart>
      <c:catAx>
        <c:axId val="1381399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40156928"/>
        <c:crosses val="autoZero"/>
        <c:auto val="1"/>
        <c:lblAlgn val="ctr"/>
        <c:lblOffset val="100"/>
        <c:noMultiLvlLbl val="1"/>
      </c:catAx>
      <c:valAx>
        <c:axId val="14015692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3813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135120000"/>
        <c:axId val="135121536"/>
      </c:barChart>
      <c:catAx>
        <c:axId val="13512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35121536"/>
        <c:crosses val="autoZero"/>
        <c:auto val="1"/>
        <c:lblAlgn val="ctr"/>
        <c:lblOffset val="100"/>
        <c:noMultiLvlLbl val="1"/>
      </c:catAx>
      <c:valAx>
        <c:axId val="13512153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3512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105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06:00-08:59</c:v>
                </c:pt>
                <c:pt idx="1">
                  <c:v>09:00-11:59</c:v>
                </c:pt>
                <c:pt idx="2">
                  <c:v>12:00-14:59</c:v>
                </c:pt>
                <c:pt idx="3">
                  <c:v>15:00-17:59</c:v>
                </c:pt>
                <c:pt idx="4">
                  <c:v>18:00-20:59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168126.61</c:v>
                </c:pt>
                <c:pt idx="1">
                  <c:v>220162.06</c:v>
                </c:pt>
                <c:pt idx="2">
                  <c:v>121864.98</c:v>
                </c:pt>
                <c:pt idx="3">
                  <c:v>122990.16</c:v>
                </c:pt>
                <c:pt idx="4">
                  <c:v>65668.52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35254016"/>
        <c:axId val="135255552"/>
      </c:barChart>
      <c:catAx>
        <c:axId val="135254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35255552"/>
        <c:crosses val="autoZero"/>
        <c:auto val="1"/>
        <c:lblAlgn val="ctr"/>
        <c:lblOffset val="100"/>
        <c:noMultiLvlLbl val="1"/>
      </c:catAx>
      <c:valAx>
        <c:axId val="135255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3525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ln w="38100" cap="flat">
              <a:solidFill>
                <a:srgbClr val="E8871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dLbls>
            <c:numFmt formatCode="\$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1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5318912"/>
        <c:axId val="140223616"/>
      </c:lineChart>
      <c:catAx>
        <c:axId val="135318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40223616"/>
        <c:crosses val="autoZero"/>
        <c:auto val="1"/>
        <c:lblAlgn val="ctr"/>
        <c:lblOffset val="100"/>
        <c:noMultiLvlLbl val="1"/>
      </c:catAx>
      <c:valAx>
        <c:axId val="14022361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35318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F4E37"/>
            </a:solidFill>
            <a:effectLst/>
          </c:spPr>
          <c:invertIfNegative val="0"/>
          <c:dLbls>
            <c:numFmt formatCode="\$#,##0" sourceLinked="0"/>
            <c:txPr>
              <a:bodyPr/>
              <a:lstStyle/>
              <a:p>
                <a:pPr>
                  <a:defRPr sz="950" b="0" i="0" u="none" strike="noStrike">
                    <a:solidFill>
                      <a:srgbClr val="24160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101677.28</c:v>
                </c:pt>
                <c:pt idx="1">
                  <c:v>99455.94</c:v>
                </c:pt>
                <c:pt idx="2">
                  <c:v>100313.54</c:v>
                </c:pt>
                <c:pt idx="3">
                  <c:v>100767.78</c:v>
                </c:pt>
                <c:pt idx="4">
                  <c:v>101373</c:v>
                </c:pt>
                <c:pt idx="5">
                  <c:v>96894.48</c:v>
                </c:pt>
                <c:pt idx="6">
                  <c:v>98330.31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40261248"/>
        <c:axId val="140262784"/>
      </c:barChart>
      <c:catAx>
        <c:axId val="1402612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608"/>
                </a:solidFill>
                <a:latin typeface="Arial"/>
              </a:defRPr>
            </a:pPr>
            <a:endParaRPr lang="en-US"/>
          </a:p>
        </c:txPr>
        <c:crossAx val="140262784"/>
        <c:crosses val="autoZero"/>
        <c:auto val="1"/>
        <c:lblAlgn val="ctr"/>
        <c:lblOffset val="100"/>
        <c:noMultiLvlLbl val="1"/>
      </c:catAx>
      <c:valAx>
        <c:axId val="14026278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40261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F4A91-3B65-449F-80C3-37CE98588D17}" type="datetimeFigureOut">
              <a:rPr lang="en-ZA" smtClean="0"/>
              <a:t>2026/07/30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9414F-D9B9-4FFA-9379-75F5644FAC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392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75264" y="6422065"/>
            <a:ext cx="1016000" cy="365125"/>
          </a:xfrm>
        </p:spPr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422065"/>
            <a:ext cx="2844800" cy="365125"/>
          </a:xfrm>
        </p:spPr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995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22065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eaLnBrk="1" latinLnBrk="0" hangingPunct="1"/>
            <a:fld id="{E637BB6B-EE1B-48FB-8575-0D55C373DE88}" type="datetimeFigureOut">
              <a:rPr lang="en-US" smtClean="0"/>
              <a:pPr eaLnBrk="1" latinLnBrk="0" hangingPunct="1"/>
              <a:t>7/30/2026</a:t>
            </a:fld>
            <a:endParaRPr lang="en-US" sz="100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165600" y="6422065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 eaLnBrk="1" latinLnBrk="0" hangingPunct="1"/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871200" y="6422065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AA957AF-53C0-420B-9C2D-77DB1416566C}" type="slidenum">
              <a:rPr kumimoji="0" lang="en-US" smtClean="0"/>
              <a:pPr eaLnBrk="1" latinLnBrk="0" hangingPunct="1"/>
              <a:t>‹#›</a:t>
            </a:fld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6F4E3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E8871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6F4E37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six months of transaction data into a revenue growth plan for the new CEO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3977640"/>
            <a:ext cx="128016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51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CEO
</a:t>
            </a:r>
            <a:r>
              <a:rPr lang="en-US" sz="130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
</a:t>
            </a:r>
            <a:r>
              <a:rPr lang="en-US" sz="130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2023  •  3 Store Locations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 —  BrightLearn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transactional data across three New York stores were cleaned, transformed, and analyzed to identify what drives revenue, when customers buy, and where the biggest growth opportunities sit.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33472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33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511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drive the business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8437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generate 66.7% of all revenue across the 6-month period.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02152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41985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 dominate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71246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55.6% of revenue is earned before noon — the 09:00-11:59 window alone is worth 31.5%.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28853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are evenly matched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5811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balanced across Hell's Kitchen, Astoria and Lower Manhattan, but Lower Manhattan lags sharply in the evening.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256032" cy="25603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39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building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44982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more than doubled from January ($81.7K) to June ($166.5K).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3C2414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27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0574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2104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0" y="30815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21040" y="3584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21040" y="410565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321040" y="46085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21040" y="51297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21040" y="5632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Generate the Most Revenue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70408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84048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276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TEA = 66.7%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comes from just two categories. Beverage quality and consistency should be the top operational priority.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37490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7F1E8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9593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CATEGORIES, REAL UPSIDE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434340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Loose Tea, Flavours and Packaged Chocolate combine for only 5.3% of revenue — candidates for bundling, repositioning, or promotion (see Recommendations).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11247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15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3C2414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7150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is the #1 product </a:t>
            </a:r>
            <a:r>
              <a:rPr lang="en-US" sz="12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$91,406 — 31% ahead of the next best seller. These top 10 products drive over $551K,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total revenue.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Underperforming Products — Growth Opportunities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70408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371600"/>
            <a:ext cx="3840480" cy="4572000"/>
          </a:xfrm>
          <a:prstGeom prst="roundRect">
            <a:avLst>
              <a:gd name="adj" fmla="val 2381"/>
            </a:avLst>
          </a:prstGeom>
          <a:solidFill>
            <a:srgbClr val="F7F1E8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19659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10 products each generate under $5,600 in six months — combined, just 3.9% of total revenue. Several sit in categories (Tea, Chocolate, Beans) that otherwise perform well, suggesting a merchandising or awareness gap rather than low demand for the category itself.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3794760"/>
            <a:ext cx="3291840" cy="0"/>
          </a:xfrm>
          <a:prstGeom prst="line">
            <a:avLst/>
          </a:prstGeom>
          <a:noFill/>
          <a:ln w="12700">
            <a:solidFill>
              <a:srgbClr val="D9B9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4297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Bundle with best-sellers (e.g. Green Tea + Scone)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in staff recommendations</a:t>
            </a:r>
            <a:endParaRPr lang="en-US" sz="11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pricing and shelf placement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Across the Three Stores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4937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balanced — all three stores fall within 2.8% of each other, so there is no single underperforming location overall.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TIME OF DAY, PER STORE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83080"/>
          <a:ext cx="5852160" cy="1719072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241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Hell's Kitchen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$139,443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$59,012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Manhattan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$67,141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$104,943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$78,567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1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$48,734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3794760"/>
            <a:ext cx="585216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9" name="Text 5"/>
          <p:cNvSpPr/>
          <p:nvPr/>
        </p:nvSpPr>
        <p:spPr>
          <a:xfrm>
            <a:off x="6126480" y="4023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MANHATTAN'S EVENING GAP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126480" y="4389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earns only $19,013 in the evening — 61% less than Hell's Kitchen and 154% less than Astoria in the same window, despite leading all stores in morning revenue. This is the clearest location-specific opportunity in the dataset: targeted evening marketing or extended promotions at this location could close a meaningful revenue gap.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Time of Day the Store Performs Best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15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3-hour time bucket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181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REVENUE BY DAYPART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18120" y="18288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/>
        </p:spPr>
      </p:sp>
      <p:sp>
        <p:nvSpPr>
          <p:cNvPr id="8" name="Shape 5"/>
          <p:cNvSpPr/>
          <p:nvPr/>
        </p:nvSpPr>
        <p:spPr>
          <a:xfrm>
            <a:off x="7818120" y="1828800"/>
            <a:ext cx="109728" cy="1143000"/>
          </a:xfrm>
          <a:prstGeom prst="rect">
            <a:avLst/>
          </a:prstGeom>
          <a:solidFill>
            <a:srgbClr val="6F4E37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$388,289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332720" y="182880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6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55.6%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818120" y="3182112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/>
        </p:spPr>
      </p:sp>
      <p:sp>
        <p:nvSpPr>
          <p:cNvPr id="13" name="Shape 10"/>
          <p:cNvSpPr/>
          <p:nvPr/>
        </p:nvSpPr>
        <p:spPr>
          <a:xfrm>
            <a:off x="7818120" y="3182112"/>
            <a:ext cx="109728" cy="1143000"/>
          </a:xfrm>
          <a:prstGeom prst="rect">
            <a:avLst/>
          </a:prstGeom>
          <a:solidFill>
            <a:srgbClr val="D9B98C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91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92440" y="36393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$204,721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332720" y="3182112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3C2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29.3%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7818120" y="4535424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/>
        </p:spPr>
      </p:sp>
      <p:sp>
        <p:nvSpPr>
          <p:cNvPr id="18" name="Shape 15"/>
          <p:cNvSpPr/>
          <p:nvPr/>
        </p:nvSpPr>
        <p:spPr>
          <a:xfrm>
            <a:off x="7818120" y="4535424"/>
            <a:ext cx="109728" cy="1143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8092440" y="4645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49926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$105,803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332720" y="4535424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 Across the Half-Year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3C2414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+104%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36676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from January to June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017520" cy="0"/>
          </a:xfrm>
          <a:prstGeom prst="line">
            <a:avLst/>
          </a:prstGeom>
          <a:noFill/>
          <a:ln w="12700">
            <a:solidFill>
              <a:srgbClr val="6F4E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gains land in April–June, roughly doubling from Q1. This could reflect seasonality, marketing, or store maturity — worth investigating so the drivers can be repeated deliberately rather than left to chance.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vs. Weekend Demand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7040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7F1E8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WEEK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varies by less than 5% across the week — Monday ($101.7K) and Saturday ($96.9K) are the extremes. Demand is not day-driven.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37490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3C2414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$503.6K vs $195.2K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92440" y="4389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revenue — but weekdays span 5 days and weekends only 2, so per-day performance is actually comparable across the week.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Improve Sales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73352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evening slot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revenue is just 15.1% of the total, and Lower Manhattan's evening sales trail the other stores badly. Run happy-hour style promotions and evening-specific marketing there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673352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645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morning rush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09:00-11:59 alone drives 31.5% of revenue. Ensure full staffing and stock of Barista Espresso, Brewed Chai Tea and Gourmet Brewed Coffee ahead of this window.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050792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underperforming products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low performers like Green Tea, Herbal Tea and Organic Chocolate with best-sellers, and feature them in staff recommendations to lift awareness.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7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4050792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23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what's working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drive 66.7% of revenue. Keep these categories fully stocked and consider limited-edition or seasonal variants to sustain the Q2 growth trend.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C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This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20391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sales reporting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4231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Databricks pipeline and Excel/Power BI dashboards automatically so the CEO always sees current performance, not a point-in-time snapshot.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6F4E3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2900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91640" y="35935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across locations continuously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39776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store-level view built here into an ongoing scorecard, so gaps like Lower Manhattan's evening slump are caught early, everywhere.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6F4E3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83480"/>
            <a:ext cx="822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91640" y="51480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programs around peak times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55321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loyalty program anchored to the 09:00-11:59 morning rush to convert high-traffic hours into repeat customers.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 |  Sales Analysis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C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6F4E3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E8871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smtClean="0">
                <a:solidFill>
                  <a:srgbClr val="D9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4114800"/>
            <a:ext cx="1280160" cy="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</a:t>
            </a:r>
            <a:r>
              <a:rPr lang="en-US" sz="1100" dirty="0" smtClean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Case Study </a:t>
            </a:r>
            <a:r>
              <a:rPr lang="en-US" sz="1100" dirty="0" smtClean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</TotalTime>
  <Words>989</Words>
  <Application>Microsoft Office PowerPoint</Application>
  <PresentationFormat>Custom</PresentationFormat>
  <Paragraphs>152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Technic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Phathutshedzo Mpfumali</cp:lastModifiedBy>
  <cp:revision>2</cp:revision>
  <dcterms:created xsi:type="dcterms:W3CDTF">2026-07-30T21:11:08Z</dcterms:created>
  <dcterms:modified xsi:type="dcterms:W3CDTF">2026-07-30T21:17:03Z</dcterms:modified>
</cp:coreProperties>
</file>